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</p:sldMasterIdLst>
  <p:sldIdLst>
    <p:sldId id="264" r:id="rId2"/>
    <p:sldId id="273" r:id="rId3"/>
    <p:sldId id="274" r:id="rId4"/>
    <p:sldId id="266" r:id="rId5"/>
    <p:sldId id="267" r:id="rId6"/>
    <p:sldId id="260" r:id="rId7"/>
    <p:sldId id="261" r:id="rId8"/>
    <p:sldId id="268" r:id="rId9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A48AD0-BBDB-437C-AF15-2F8F9ABEB9F6}" v="462" dt="2026-03-20T01:27:52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9"/>
    <p:restoredTop sz="95095" autoAdjust="0"/>
  </p:normalViewPr>
  <p:slideViewPr>
    <p:cSldViewPr snapToGrid="0">
      <p:cViewPr varScale="1">
        <p:scale>
          <a:sx n="54" d="100"/>
          <a:sy n="54" d="100"/>
        </p:scale>
        <p:origin x="8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 zhang" userId="71435f637f6fd63d" providerId="LiveId" clId="{5080AB5A-332D-4CE2-8E77-88CCDE8A32A0}"/>
    <pc:docChg chg="undo custSel addSld delSld modSld">
      <pc:chgData name="xu zhang" userId="71435f637f6fd63d" providerId="LiveId" clId="{5080AB5A-332D-4CE2-8E77-88CCDE8A32A0}" dt="2026-03-20T01:27:52.053" v="4516" actId="1076"/>
      <pc:docMkLst>
        <pc:docMk/>
      </pc:docMkLst>
      <pc:sldChg chg="modSp mod">
        <pc:chgData name="xu zhang" userId="71435f637f6fd63d" providerId="LiveId" clId="{5080AB5A-332D-4CE2-8E77-88CCDE8A32A0}" dt="2026-03-16T14:10:22.240" v="4473" actId="1076"/>
        <pc:sldMkLst>
          <pc:docMk/>
          <pc:sldMk cId="1824303083" sldId="261"/>
        </pc:sldMkLst>
        <pc:spChg chg="mod">
          <ac:chgData name="xu zhang" userId="71435f637f6fd63d" providerId="LiveId" clId="{5080AB5A-332D-4CE2-8E77-88CCDE8A32A0}" dt="2026-03-16T14:10:22.240" v="4473" actId="1076"/>
          <ac:spMkLst>
            <pc:docMk/>
            <pc:sldMk cId="1824303083" sldId="261"/>
            <ac:spMk id="2" creationId="{00000000-0000-0000-0000-000000000000}"/>
          </ac:spMkLst>
        </pc:spChg>
      </pc:sldChg>
      <pc:sldChg chg="modSp mod">
        <pc:chgData name="xu zhang" userId="71435f637f6fd63d" providerId="LiveId" clId="{5080AB5A-332D-4CE2-8E77-88CCDE8A32A0}" dt="2026-03-12T13:34:49.484" v="75" actId="20577"/>
        <pc:sldMkLst>
          <pc:docMk/>
          <pc:sldMk cId="3987592565" sldId="264"/>
        </pc:sldMkLst>
        <pc:spChg chg="mod">
          <ac:chgData name="xu zhang" userId="71435f637f6fd63d" providerId="LiveId" clId="{5080AB5A-332D-4CE2-8E77-88CCDE8A32A0}" dt="2026-03-12T13:34:47.012" v="73"/>
          <ac:spMkLst>
            <pc:docMk/>
            <pc:sldMk cId="3987592565" sldId="264"/>
            <ac:spMk id="2" creationId="{1049DF9E-DAFE-C576-543E-1BB08F035AC3}"/>
          </ac:spMkLst>
        </pc:spChg>
        <pc:spChg chg="mod">
          <ac:chgData name="xu zhang" userId="71435f637f6fd63d" providerId="LiveId" clId="{5080AB5A-332D-4CE2-8E77-88CCDE8A32A0}" dt="2026-03-12T13:34:49.484" v="75" actId="20577"/>
          <ac:spMkLst>
            <pc:docMk/>
            <pc:sldMk cId="3987592565" sldId="264"/>
            <ac:spMk id="3" creationId="{4F0CCB4C-C316-5FEF-CE10-60649C736DB7}"/>
          </ac:spMkLst>
        </pc:spChg>
      </pc:sldChg>
      <pc:sldChg chg="addSp delSp modSp mod">
        <pc:chgData name="xu zhang" userId="71435f637f6fd63d" providerId="LiveId" clId="{5080AB5A-332D-4CE2-8E77-88CCDE8A32A0}" dt="2026-03-13T02:30:28.521" v="2218" actId="1076"/>
        <pc:sldMkLst>
          <pc:docMk/>
          <pc:sldMk cId="363286873" sldId="266"/>
        </pc:sldMkLst>
        <pc:picChg chg="add mod">
          <ac:chgData name="xu zhang" userId="71435f637f6fd63d" providerId="LiveId" clId="{5080AB5A-332D-4CE2-8E77-88CCDE8A32A0}" dt="2026-03-13T02:30:28.521" v="2218" actId="1076"/>
          <ac:picMkLst>
            <pc:docMk/>
            <pc:sldMk cId="363286873" sldId="266"/>
            <ac:picMk id="4" creationId="{EA1AEE79-F3F5-2050-E33D-11EF1210DC8E}"/>
          </ac:picMkLst>
        </pc:picChg>
      </pc:sldChg>
      <pc:sldChg chg="modSp mod">
        <pc:chgData name="xu zhang" userId="71435f637f6fd63d" providerId="LiveId" clId="{5080AB5A-332D-4CE2-8E77-88CCDE8A32A0}" dt="2026-03-20T01:27:52.053" v="4516" actId="1076"/>
        <pc:sldMkLst>
          <pc:docMk/>
          <pc:sldMk cId="2281552848" sldId="267"/>
        </pc:sldMkLst>
        <pc:spChg chg="mod">
          <ac:chgData name="xu zhang" userId="71435f637f6fd63d" providerId="LiveId" clId="{5080AB5A-332D-4CE2-8E77-88CCDE8A32A0}" dt="2026-03-20T01:27:52.053" v="4516" actId="1076"/>
          <ac:spMkLst>
            <pc:docMk/>
            <pc:sldMk cId="2281552848" sldId="267"/>
            <ac:spMk id="4" creationId="{07F04F98-B9DA-D0C8-B033-F511FA254E51}"/>
          </ac:spMkLst>
        </pc:spChg>
      </pc:sldChg>
      <pc:sldChg chg="modSp mod">
        <pc:chgData name="xu zhang" userId="71435f637f6fd63d" providerId="LiveId" clId="{5080AB5A-332D-4CE2-8E77-88CCDE8A32A0}" dt="2026-03-16T14:11:10.689" v="4476" actId="20577"/>
        <pc:sldMkLst>
          <pc:docMk/>
          <pc:sldMk cId="18493287" sldId="268"/>
        </pc:sldMkLst>
        <pc:graphicFrameChg chg="modGraphic">
          <ac:chgData name="xu zhang" userId="71435f637f6fd63d" providerId="LiveId" clId="{5080AB5A-332D-4CE2-8E77-88CCDE8A32A0}" dt="2026-03-16T14:11:10.689" v="4476" actId="20577"/>
          <ac:graphicFrameMkLst>
            <pc:docMk/>
            <pc:sldMk cId="18493287" sldId="268"/>
            <ac:graphicFrameMk id="2" creationId="{A1E01845-8E6E-2150-9999-A6E1BF77D1A9}"/>
          </ac:graphicFrameMkLst>
        </pc:graphicFrameChg>
      </pc:sldChg>
      <pc:sldChg chg="modSp add mod">
        <pc:chgData name="xu zhang" userId="71435f637f6fd63d" providerId="LiveId" clId="{5080AB5A-332D-4CE2-8E77-88CCDE8A32A0}" dt="2026-03-16T13:45:28.811" v="4115"/>
        <pc:sldMkLst>
          <pc:docMk/>
          <pc:sldMk cId="84940003" sldId="273"/>
        </pc:sldMkLst>
        <pc:spChg chg="mod">
          <ac:chgData name="xu zhang" userId="71435f637f6fd63d" providerId="LiveId" clId="{5080AB5A-332D-4CE2-8E77-88CCDE8A32A0}" dt="2026-03-16T13:45:28.811" v="4115"/>
          <ac:spMkLst>
            <pc:docMk/>
            <pc:sldMk cId="84940003" sldId="273"/>
            <ac:spMk id="3" creationId="{A9BFC515-D53E-0A83-71B4-F8001C086603}"/>
          </ac:spMkLst>
        </pc:spChg>
      </pc:sldChg>
      <pc:sldChg chg="delSp modSp add mod">
        <pc:chgData name="xu zhang" userId="71435f637f6fd63d" providerId="LiveId" clId="{5080AB5A-332D-4CE2-8E77-88CCDE8A32A0}" dt="2026-03-17T14:23:20.379" v="4515" actId="20577"/>
        <pc:sldMkLst>
          <pc:docMk/>
          <pc:sldMk cId="793200603" sldId="274"/>
        </pc:sldMkLst>
        <pc:spChg chg="mod">
          <ac:chgData name="xu zhang" userId="71435f637f6fd63d" providerId="LiveId" clId="{5080AB5A-332D-4CE2-8E77-88CCDE8A32A0}" dt="2026-03-17T14:23:20.379" v="4515" actId="20577"/>
          <ac:spMkLst>
            <pc:docMk/>
            <pc:sldMk cId="793200603" sldId="274"/>
            <ac:spMk id="3" creationId="{26A45ED4-4AF0-9AF7-3422-6583043D803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66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323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7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70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288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19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64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675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42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82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99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6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9DF9E-DAFE-C576-543E-1BB08F035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软件工程实验课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sz="5300" dirty="0"/>
              <a:t>团队作业：智能城市生成系统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0CCB4C-C316-5FEF-CE10-60649C736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021" y="5521808"/>
            <a:ext cx="9144000" cy="2207683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截至日期：</a:t>
            </a:r>
            <a:r>
              <a:rPr lang="en-US" altLang="zh-CN" b="1" dirty="0">
                <a:solidFill>
                  <a:srgbClr val="FF0000"/>
                </a:solidFill>
              </a:rPr>
              <a:t>2026.6.14</a:t>
            </a:r>
            <a:r>
              <a:rPr lang="zh-CN" altLang="en-US" b="1" dirty="0">
                <a:solidFill>
                  <a:srgbClr val="FF0000"/>
                </a:solidFill>
              </a:rPr>
              <a:t>的</a:t>
            </a:r>
            <a:r>
              <a:rPr lang="en-US" altLang="zh-CN" b="1" dirty="0">
                <a:solidFill>
                  <a:srgbClr val="FF0000"/>
                </a:solidFill>
              </a:rPr>
              <a:t>24:00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总分：</a:t>
            </a:r>
            <a:r>
              <a:rPr lang="en-US" altLang="zh-CN" b="1" dirty="0">
                <a:solidFill>
                  <a:srgbClr val="FF0000"/>
                </a:solidFill>
              </a:rPr>
              <a:t>20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7592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0C1B-1B46-10D5-EA4A-BFC2F29C0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1D1EE-580D-919E-45E8-9D4BF9E17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837"/>
            <a:ext cx="10515600" cy="1022368"/>
          </a:xfrm>
        </p:spPr>
        <p:txBody>
          <a:bodyPr>
            <a:normAutofit fontScale="90000"/>
          </a:bodyPr>
          <a:lstStyle/>
          <a:p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题目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智能城市生成系统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b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BFC515-D53E-0A83-71B4-F8001C086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822" y="1323464"/>
            <a:ext cx="11918355" cy="7461104"/>
          </a:xfrm>
        </p:spPr>
        <p:txBody>
          <a:bodyPr>
            <a:noAutofit/>
          </a:bodyPr>
          <a:lstStyle/>
          <a:p>
            <a:pPr marL="285750" marR="0" lvl="0" indent="-28575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用户角色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建议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 latinLnBrk="1">
              <a:lnSpc>
                <a:spcPct val="100000"/>
              </a:lnSpc>
              <a:spcAft>
                <a:spcPct val="0"/>
              </a:spcAft>
            </a:pPr>
            <a:r>
              <a:rPr lang="zh-CN" altLang="en-US" sz="2000" b="1" dirty="0"/>
              <a:t>系统管理员：</a:t>
            </a:r>
            <a:r>
              <a:rPr lang="zh-CN" altLang="en-US" sz="2000" dirty="0"/>
              <a:t>负责主系统的后台运维、插件上架审核及用户权限分配 。</a:t>
            </a:r>
            <a:endParaRPr lang="en-US" altLang="zh-CN" sz="2000" dirty="0"/>
          </a:p>
          <a:p>
            <a:pPr fontAlgn="base" latinLnBrk="1">
              <a:lnSpc>
                <a:spcPct val="100000"/>
              </a:lnSpc>
              <a:spcAft>
                <a:spcPct val="0"/>
              </a:spcAft>
            </a:pPr>
            <a:r>
              <a:rPr lang="zh-CN" altLang="en-US" sz="2000" b="1" dirty="0"/>
              <a:t>行业分析师：</a:t>
            </a:r>
            <a:r>
              <a:rPr lang="zh-CN" altLang="en-US" sz="2000" dirty="0"/>
              <a:t>负责调研智慧城市行业需求，制定插件功能标准并进行验收评审 。</a:t>
            </a:r>
            <a:endParaRPr lang="en-US" altLang="zh-CN" sz="2000" dirty="0"/>
          </a:p>
          <a:p>
            <a:pPr fontAlgn="base" latinLnBrk="1">
              <a:lnSpc>
                <a:spcPct val="100000"/>
              </a:lnSpc>
              <a:spcAft>
                <a:spcPct val="0"/>
              </a:spcAft>
            </a:pPr>
            <a:r>
              <a:rPr lang="zh-CN" altLang="en-US" sz="2000" b="1" dirty="0"/>
              <a:t>场景建模师：</a:t>
            </a:r>
            <a:r>
              <a:rPr lang="zh-CN" altLang="en-US" sz="2000" dirty="0"/>
              <a:t>通过主系统获取授权，在 </a:t>
            </a:r>
            <a:r>
              <a:rPr lang="en-US" altLang="zh-CN" sz="2000" dirty="0"/>
              <a:t>Blender </a:t>
            </a:r>
            <a:r>
              <a:rPr lang="zh-CN" altLang="en-US" sz="2000" dirty="0"/>
              <a:t>中利用插件进行复杂的城市建模与精细化编辑 。</a:t>
            </a:r>
            <a:endParaRPr lang="en-US" altLang="zh-CN" sz="2000" dirty="0"/>
          </a:p>
          <a:p>
            <a:pPr defTabSz="91440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defTabSz="91440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基础功能项：要求软件至少需要完成的功能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defTabSz="91440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2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defTabSz="91440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、系统架构与界面（原型系统，可以使用</a:t>
            </a:r>
            <a:r>
              <a:rPr lang="en-US" altLang="zh-CN" sz="2400" b="1" dirty="0"/>
              <a:t>HTML</a:t>
            </a:r>
            <a:r>
              <a:rPr lang="zh-CN" altLang="en-US" sz="2400" b="1" dirty="0"/>
              <a:t>）</a:t>
            </a:r>
          </a:p>
          <a:p>
            <a:pPr latinLnBrk="1">
              <a:lnSpc>
                <a:spcPct val="100000"/>
              </a:lnSpc>
            </a:pPr>
            <a:r>
              <a:rPr lang="zh-CN" altLang="en-US" sz="2000" b="1" dirty="0"/>
              <a:t>多角色登录</a:t>
            </a:r>
            <a:r>
              <a:rPr lang="zh-CN" altLang="en-US" sz="2000" dirty="0"/>
              <a:t>：实现不同角色的登录功能，根据角色权限显示不同的 </a:t>
            </a:r>
            <a:r>
              <a:rPr lang="en-US" altLang="zh-CN" sz="2000" dirty="0"/>
              <a:t>UI </a:t>
            </a:r>
            <a:r>
              <a:rPr lang="zh-CN" altLang="en-US" sz="2000" dirty="0"/>
              <a:t>界面 。</a:t>
            </a:r>
          </a:p>
          <a:p>
            <a:pPr latinLnBrk="1">
              <a:lnSpc>
                <a:spcPct val="100000"/>
              </a:lnSpc>
            </a:pPr>
            <a:r>
              <a:rPr lang="zh-CN" altLang="en-US" sz="2000" b="1" dirty="0"/>
              <a:t>插件系统入口</a:t>
            </a:r>
            <a:r>
              <a:rPr lang="zh-CN" altLang="en-US" sz="2000" dirty="0"/>
              <a:t>：在合适的页面位置（如开发者或使用者页面）设计“进入 </a:t>
            </a:r>
            <a:r>
              <a:rPr lang="en-US" altLang="zh-CN" sz="2000" dirty="0"/>
              <a:t>Blender”</a:t>
            </a:r>
            <a:r>
              <a:rPr lang="zh-CN" altLang="en-US" sz="2000" dirty="0"/>
              <a:t>的交互按钮，模拟从主系统跳转至插件系统的流程 。</a:t>
            </a:r>
          </a:p>
          <a:p>
            <a:pPr latinLnBrk="1">
              <a:lnSpc>
                <a:spcPct val="100000"/>
              </a:lnSpc>
            </a:pPr>
            <a:r>
              <a:rPr lang="zh-CN" altLang="en-US" sz="2000" b="1" dirty="0"/>
              <a:t>多角色权限区分</a:t>
            </a:r>
            <a:r>
              <a:rPr lang="zh-CN" altLang="en-US" sz="2000" dirty="0"/>
              <a:t>：主系统需体现对不同用户（如管理员与普通用户）的功能限制与权限管理 。</a:t>
            </a:r>
            <a:endParaRPr lang="en-US" altLang="zh-CN" sz="2000" dirty="0"/>
          </a:p>
          <a:p>
            <a:pPr marL="0" indent="0" latinLnBrk="1">
              <a:lnSpc>
                <a:spcPct val="100000"/>
              </a:lnSpc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Blender</a:t>
            </a:r>
            <a:r>
              <a:rPr lang="zh-CN" altLang="en-US" sz="2400" b="1" dirty="0"/>
              <a:t>城市场景生成插件系统</a:t>
            </a:r>
            <a:endParaRPr lang="en-US" altLang="zh-CN" sz="2400" b="1" dirty="0"/>
          </a:p>
          <a:p>
            <a:pPr marL="0" indent="0" latinLnBrk="1">
              <a:lnSpc>
                <a:spcPct val="100000"/>
              </a:lnSpc>
              <a:buNone/>
            </a:pPr>
            <a:r>
              <a:rPr lang="zh-CN" altLang="en-US" sz="2000" b="1" i="1" dirty="0"/>
              <a:t>（需要了解</a:t>
            </a:r>
            <a:r>
              <a:rPr lang="en-US" altLang="zh-CN" sz="2000" b="1" i="1" dirty="0" err="1"/>
              <a:t>Icity</a:t>
            </a:r>
            <a:r>
              <a:rPr lang="zh-CN" altLang="en-US" sz="2000" b="1" i="1" dirty="0"/>
              <a:t>、</a:t>
            </a:r>
            <a:r>
              <a:rPr lang="en-US" altLang="zh-CN" sz="2000" b="1" i="1" dirty="0"/>
              <a:t>City Generator</a:t>
            </a:r>
            <a:r>
              <a:rPr lang="zh-CN" altLang="en-US" sz="2000" b="1" i="1" dirty="0"/>
              <a:t>插件以及</a:t>
            </a:r>
            <a:r>
              <a:rPr lang="en-US" altLang="zh-CN" sz="2000" b="1" i="1" dirty="0"/>
              <a:t>SCGS</a:t>
            </a:r>
            <a:r>
              <a:rPr lang="zh-CN" altLang="en-US" sz="2000" b="1" i="1" dirty="0"/>
              <a:t>插件（在</a:t>
            </a:r>
            <a:r>
              <a:rPr lang="en-US" altLang="zh-CN" sz="2000" b="1" i="1" dirty="0" err="1"/>
              <a:t>Icity</a:t>
            </a:r>
            <a:r>
              <a:rPr lang="zh-CN" altLang="en-US" sz="2000" b="1" i="1" dirty="0"/>
              <a:t>的基础上修改，加入了大模型），了解插件开发代码，并且从上述三个插件中选取一个合适的作为</a:t>
            </a:r>
            <a:r>
              <a:rPr lang="en-US" altLang="zh-CN" sz="2000" b="1" i="1" dirty="0"/>
              <a:t>base</a:t>
            </a:r>
            <a:r>
              <a:rPr lang="zh-CN" altLang="en-US" sz="2000" b="1" i="1" dirty="0"/>
              <a:t>进行进一步的修改）</a:t>
            </a:r>
            <a:endParaRPr lang="en-US" altLang="zh-CN" sz="2000" b="1" i="1" dirty="0"/>
          </a:p>
          <a:p>
            <a:pPr latinLnBrk="1">
              <a:lnSpc>
                <a:spcPct val="100000"/>
              </a:lnSpc>
            </a:pPr>
            <a:r>
              <a:rPr lang="zh-CN" altLang="en-US" sz="2000" b="1" dirty="0"/>
              <a:t>资产扩充</a:t>
            </a:r>
            <a:r>
              <a:rPr lang="zh-CN" altLang="en-US" sz="2000" dirty="0"/>
              <a:t>：在现有系统中成功添加至少一种新的</a:t>
            </a:r>
            <a:r>
              <a:rPr lang="en-US" altLang="zh-CN" sz="2000" dirty="0"/>
              <a:t>2D</a:t>
            </a:r>
            <a:r>
              <a:rPr lang="zh-CN" altLang="en-US" sz="2000" dirty="0"/>
              <a:t>资产，例如：</a:t>
            </a:r>
            <a:r>
              <a:rPr lang="zh-CN" altLang="en-US" sz="2000" b="1" dirty="0"/>
              <a:t>道路纹理贴图</a:t>
            </a:r>
            <a:r>
              <a:rPr lang="zh-CN" altLang="en-US" sz="2000" dirty="0"/>
              <a:t>，并能实现场景中纹理的资产替换。向系统中添加至少一个新类型的 </a:t>
            </a:r>
            <a:r>
              <a:rPr lang="en-US" altLang="zh-CN" sz="2000" b="1" dirty="0"/>
              <a:t>3D </a:t>
            </a:r>
            <a:r>
              <a:rPr lang="zh-CN" altLang="en-US" sz="2000" b="1" dirty="0"/>
              <a:t>资产（例如：路灯），</a:t>
            </a:r>
            <a:r>
              <a:rPr lang="zh-CN" altLang="en-US" sz="2000" dirty="0"/>
              <a:t>并确保其能正确加载到场景中。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000" b="1" i="1" dirty="0"/>
          </a:p>
          <a:p>
            <a:pPr marL="0" indent="0" algn="l">
              <a:buNone/>
            </a:pPr>
            <a:endParaRPr lang="zh-CN" altLang="en-US" sz="2000" b="1" i="0" dirty="0">
              <a:solidFill>
                <a:srgbClr val="232D36"/>
              </a:solidFill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84940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C8F52-3DAA-39FD-1593-A70EBC049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A45ED4-4AF0-9AF7-3422-6583043D8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512" y="350228"/>
            <a:ext cx="11830976" cy="8053771"/>
          </a:xfrm>
        </p:spPr>
        <p:txBody>
          <a:bodyPr>
            <a:noAutofit/>
          </a:bodyPr>
          <a:lstStyle/>
          <a:p>
            <a:pPr latinLnBrk="1">
              <a:lnSpc>
                <a:spcPct val="100000"/>
              </a:lnSpc>
            </a:pPr>
            <a:r>
              <a:rPr lang="zh-CN" altLang="en-US" sz="2000" b="1" dirty="0"/>
              <a:t>场景生成模板化：</a:t>
            </a:r>
            <a:r>
              <a:rPr lang="zh-CN" altLang="en-US" sz="2000" dirty="0"/>
              <a:t>在插件界面基础上增加“模板选择”输入框。实现选择一个模板（如模板 </a:t>
            </a:r>
            <a:r>
              <a:rPr lang="en-US" altLang="zh-CN" sz="2000" dirty="0"/>
              <a:t>0</a:t>
            </a:r>
            <a:r>
              <a:rPr lang="zh-CN" altLang="en-US" sz="2000" dirty="0"/>
              <a:t>）即可同时自动配置树木类型、道路纹理及路边座椅特定类型的功能 。（例如：在输入框中输入</a:t>
            </a:r>
            <a:r>
              <a:rPr lang="en-US" altLang="zh-CN" sz="2000" dirty="0"/>
              <a:t>0</a:t>
            </a:r>
            <a:r>
              <a:rPr lang="zh-CN" altLang="en-US" sz="2000" dirty="0"/>
              <a:t>，运行之后，插件会依次将树木类型设置成</a:t>
            </a:r>
            <a:r>
              <a:rPr lang="en-US" altLang="zh-CN" sz="2000" dirty="0"/>
              <a:t>1</a:t>
            </a:r>
            <a:r>
              <a:rPr lang="zh-CN" altLang="en-US" sz="2000" dirty="0"/>
              <a:t>，道路类型设置成</a:t>
            </a:r>
            <a:r>
              <a:rPr lang="en-US" altLang="zh-CN" sz="2000" dirty="0"/>
              <a:t>2</a:t>
            </a:r>
            <a:r>
              <a:rPr lang="zh-CN" altLang="en-US" sz="2000" dirty="0"/>
              <a:t>，路边座椅类型设置成</a:t>
            </a:r>
            <a:r>
              <a:rPr lang="en-US" altLang="zh-CN" sz="2000" dirty="0"/>
              <a:t>1</a:t>
            </a:r>
            <a:r>
              <a:rPr lang="zh-CN" altLang="en-US" sz="2000" dirty="0"/>
              <a:t>）。还可以尝试接入大模型（</a:t>
            </a:r>
            <a:r>
              <a:rPr lang="en-US" altLang="zh-CN" sz="2000" dirty="0"/>
              <a:t>LLM</a:t>
            </a:r>
            <a:r>
              <a:rPr lang="zh-CN" altLang="en-US" sz="2000" dirty="0"/>
              <a:t>），通过输入框输入一段文本指令（如：“将树木、道路和座椅均设为类型 </a:t>
            </a:r>
            <a:r>
              <a:rPr lang="en-US" altLang="zh-CN" sz="2000" dirty="0"/>
              <a:t>1”</a:t>
            </a:r>
            <a:r>
              <a:rPr lang="zh-CN" altLang="en-US" sz="2000" dirty="0"/>
              <a:t>），系统自动解析并调用后台生成函数完成更改。</a:t>
            </a:r>
            <a:endParaRPr lang="en-US" altLang="zh-CN" sz="2000" dirty="0"/>
          </a:p>
          <a:p>
            <a:pPr latinLnBrk="1">
              <a:lnSpc>
                <a:spcPct val="100000"/>
              </a:lnSpc>
            </a:pPr>
            <a:r>
              <a:rPr lang="zh-CN" altLang="en-US" sz="2000" b="1" dirty="0"/>
              <a:t>交通和人群模拟：</a:t>
            </a:r>
            <a:r>
              <a:rPr lang="zh-CN" altLang="en-US" sz="2000" dirty="0"/>
              <a:t>实现往场景中加入汽车、人群等动态元素的功能。并且保证动态元素的运行轨迹符合社会规则。</a:t>
            </a:r>
            <a:endParaRPr lang="en-US" altLang="zh-CN" sz="2000" dirty="0"/>
          </a:p>
          <a:p>
            <a:pPr latinLnBrk="1">
              <a:lnSpc>
                <a:spcPct val="100000"/>
              </a:lnSpc>
            </a:pPr>
            <a:r>
              <a:rPr lang="zh-CN" altLang="en-US" sz="2000" b="1" dirty="0"/>
              <a:t>添加地形、河流、船只等生态化元素：</a:t>
            </a:r>
            <a:r>
              <a:rPr lang="zh-CN" altLang="en-US" sz="2000" dirty="0"/>
              <a:t>实现在城市周边生成山峦、湖水等生态化场景，并在湖水中添加动态的船只。</a:t>
            </a:r>
            <a:endParaRPr lang="en-US" altLang="zh-CN" sz="2000" dirty="0"/>
          </a:p>
          <a:p>
            <a:pPr latinLnBrk="1">
              <a:lnSpc>
                <a:spcPct val="100000"/>
              </a:lnSpc>
            </a:pPr>
            <a:r>
              <a:rPr lang="zh-CN" altLang="en-US" sz="2000" b="1" dirty="0"/>
              <a:t>布局控制</a:t>
            </a:r>
            <a:r>
              <a:rPr lang="zh-CN" altLang="en-US" sz="2000" dirty="0"/>
              <a:t>：设计布局输入框，支持手动输入点集和连接线集来精确控制城市道路布局并且实现</a:t>
            </a:r>
            <a:r>
              <a:rPr lang="zh-CN" altLang="en-US" sz="2000" b="1" dirty="0"/>
              <a:t>草图布局控制：</a:t>
            </a:r>
            <a:r>
              <a:rPr lang="zh-CN" altLang="en-US" sz="2000" dirty="0"/>
              <a:t>系统需自动从图像中提取点集与道路线集信息，进行布局图的修改。</a:t>
            </a:r>
            <a:endParaRPr lang="en-US" altLang="zh-CN" sz="2000" dirty="0"/>
          </a:p>
          <a:p>
            <a:pPr latinLnBrk="1">
              <a:lnSpc>
                <a:spcPct val="100000"/>
              </a:lnSpc>
            </a:pPr>
            <a:r>
              <a:rPr lang="zh-CN" altLang="en-US" sz="2000" b="1" dirty="0"/>
              <a:t>自然语言交互编辑：</a:t>
            </a:r>
            <a:r>
              <a:rPr lang="zh-CN" altLang="en-US" sz="2000" dirty="0"/>
              <a:t>接入 </a:t>
            </a:r>
            <a:r>
              <a:rPr lang="en-US" altLang="zh-CN" sz="2000" dirty="0"/>
              <a:t>LLM </a:t>
            </a:r>
            <a:r>
              <a:rPr lang="zh-CN" altLang="en-US" sz="2000" dirty="0"/>
              <a:t>并在插件界面设计自然语言输入框。支持通过文字指令实现场景环境的动态调整，并且自己设计支持用自然语言控制的功能。例如“将天色变暗”或“切换为雨天模式”。</a:t>
            </a:r>
            <a:endParaRPr lang="en-US" altLang="zh-CN" sz="2000" dirty="0"/>
          </a:p>
          <a:p>
            <a:pPr marL="0" indent="0" latinLnBrk="1">
              <a:lnSpc>
                <a:spcPct val="100000"/>
              </a:lnSpc>
              <a:buNone/>
            </a:pPr>
            <a:endParaRPr lang="en-US" altLang="zh-CN" sz="2000" dirty="0"/>
          </a:p>
          <a:p>
            <a:pPr marL="0" indent="0" latinLnBrk="1">
              <a:lnSpc>
                <a:spcPct val="100000"/>
              </a:lnSpc>
              <a:buNone/>
            </a:pPr>
            <a:r>
              <a:rPr lang="zh-CN" altLang="en-US" sz="2400" b="1" dirty="0"/>
              <a:t>说明</a:t>
            </a:r>
            <a:endParaRPr lang="en-US" altLang="zh-CN" sz="2400" b="1" dirty="0"/>
          </a:p>
          <a:p>
            <a:pPr latinLnBrk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接入</a:t>
            </a:r>
            <a:r>
              <a:rPr lang="en-US" altLang="zh-CN" sz="2000" dirty="0"/>
              <a:t>LLM</a:t>
            </a:r>
            <a:r>
              <a:rPr lang="zh-CN" altLang="en-US" sz="2000" dirty="0"/>
              <a:t>可以调用商用大模型的</a:t>
            </a:r>
            <a:r>
              <a:rPr lang="en-US" altLang="zh-CN" sz="2000" dirty="0"/>
              <a:t>API</a:t>
            </a:r>
            <a:r>
              <a:rPr lang="zh-CN" altLang="en-US" sz="2000" dirty="0"/>
              <a:t>，也可以自己部署模型。</a:t>
            </a:r>
            <a:endParaRPr lang="en-US" altLang="zh-CN" sz="2000" dirty="0"/>
          </a:p>
          <a:p>
            <a:pPr latinLnBrk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生成的城市场景规模没有要求，能够体现开发的功能即可。</a:t>
            </a:r>
            <a:endParaRPr lang="en-US" altLang="zh-CN" sz="2000" dirty="0"/>
          </a:p>
          <a:p>
            <a:pPr latinLnBrk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在生成构造的场景之后，要渲染视频或图像对场景进行展示。</a:t>
            </a:r>
            <a:endParaRPr lang="en-US" altLang="zh-CN" sz="2000" dirty="0"/>
          </a:p>
          <a:p>
            <a:pPr latinLnBrk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插件文件下载地址：</a:t>
            </a:r>
            <a:r>
              <a:rPr lang="en-US" altLang="zh-CN" sz="2000" dirty="0"/>
              <a:t>https://pan.baidu.com/s/1SBww9_Wwmk13w3G6TEVlJg?pwd=kgis</a:t>
            </a:r>
          </a:p>
        </p:txBody>
      </p:sp>
    </p:spTree>
    <p:extLst>
      <p:ext uri="{BB962C8B-B14F-4D97-AF65-F5344CB8AC3E}">
        <p14:creationId xmlns:p14="http://schemas.microsoft.com/office/powerpoint/2010/main" val="793200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A1AEE79-F3F5-2050-E33D-11EF1210D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3959"/>
            <a:ext cx="11710007" cy="743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07F04F98-B9DA-D0C8-B033-F511FA254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18" y="1326380"/>
            <a:ext cx="11664363" cy="649123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7935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开发要求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实现一个可运行演示的原型系统​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以及具有实际功能的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Blender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插件系统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原型系统的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编程语言与框架不限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Blender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插件需要遵循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Blender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插件开发规范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组队要求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团队规模：​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不多于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人​（需指定组长）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角色建议：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​项目经理​（制定开发计划、协调进度）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​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前端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工程师​（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完成原型系统的开发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​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插件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开发工程师​（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完成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Blender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插件的开发，建议分配更多的人员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​测试工程师​（设计测试用例）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交付物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​可运行Demo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（插件文件上传）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原型系统的演示视频以及插件功能、渲染场景的演示视频。</a:t>
            </a:r>
            <a:endParaRPr kumimoji="0" lang="zh-CN" altLang="zh-CN" sz="2000" b="1" i="0" u="none" strike="noStrike" cap="none" normalizeH="0" baseline="0" dirty="0">
              <a:ln>
                <a:noFill/>
              </a:ln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​软件文档</a:t>
            </a:r>
          </a:p>
        </p:txBody>
      </p:sp>
    </p:spTree>
    <p:extLst>
      <p:ext uri="{BB962C8B-B14F-4D97-AF65-F5344CB8AC3E}">
        <p14:creationId xmlns:p14="http://schemas.microsoft.com/office/powerpoint/2010/main" val="2281552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29611" y="938631"/>
            <a:ext cx="11357002" cy="6717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软件开发文档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一、项目概述</a:t>
            </a:r>
            <a:endParaRPr lang="en-US" altLang="zh-CN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开发背景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项目目标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开发环境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可行性分析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项目计划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二、需求分析与系统设计</a:t>
            </a:r>
            <a:endParaRPr lang="en-US" altLang="zh-CN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需求分析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系统设计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详细设计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数据库设计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UI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设计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endParaRPr lang="en-US" altLang="zh-CN" sz="20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76958C-CEB4-9EC2-6553-A82CB9AE4A52}"/>
              </a:ext>
            </a:extLst>
          </p:cNvPr>
          <p:cNvSpPr txBox="1"/>
          <p:nvPr/>
        </p:nvSpPr>
        <p:spPr>
          <a:xfrm>
            <a:off x="6209597" y="1425658"/>
            <a:ext cx="565097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三、系统测试</a:t>
            </a:r>
            <a:endParaRPr lang="en-US" altLang="zh-CN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测试环境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功能测试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性能测试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  <a:defRPr/>
            </a:pPr>
            <a:endParaRPr lang="en-US" altLang="zh-CN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四、项目管理</a:t>
            </a:r>
            <a:endParaRPr lang="en-US" altLang="zh-CN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参与人员及分工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项目进展记录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项目管理工具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endParaRPr lang="en-US" altLang="zh-CN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五、用户手册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8361" y="198687"/>
            <a:ext cx="11357002" cy="874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提交要求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indent="-228600" algn="just" defTabSz="9144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该团队作业在整个学期内完成，建议边进行课程学习、边推动开发进度</a:t>
            </a:r>
            <a:endParaRPr lang="en-US" altLang="zh-CN" sz="2800" b="1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 defTabSz="91440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截止时间：</a:t>
            </a:r>
            <a:r>
              <a:rPr lang="en-US" altLang="zh-CN" sz="28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2026.6.14</a:t>
            </a:r>
            <a:r>
              <a:rPr lang="zh-CN" altLang="en-US" sz="28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8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24:00</a:t>
            </a:r>
            <a:r>
              <a:rPr lang="zh-CN" altLang="en-US" sz="28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8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 sz="28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en-US" sz="28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日课堂演示）</a:t>
            </a:r>
            <a:endParaRPr lang="en-US" altLang="zh-CN" sz="2000" b="1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每个团队完成一份作业结果，统一为</a:t>
            </a:r>
            <a:r>
              <a:rPr lang="en-US" altLang="zh-CN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.zip</a:t>
            </a:r>
            <a:r>
              <a:rPr lang="zh-CN" altLang="en-US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压缩包，命名为“软件工程</a:t>
            </a:r>
            <a:r>
              <a:rPr lang="en-US" altLang="zh-CN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团队作业</a:t>
            </a:r>
            <a:r>
              <a:rPr lang="en-US" altLang="zh-CN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团队名称</a:t>
            </a:r>
            <a:r>
              <a:rPr lang="en-US" altLang="zh-CN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.zip</a:t>
            </a:r>
            <a:r>
              <a:rPr lang="zh-CN" altLang="en-US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”，具体内容包括：</a:t>
            </a:r>
            <a:endParaRPr lang="en-US" altLang="zh-CN" sz="2800" b="1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85470" lvl="1" indent="-228600" algn="just" defTabSz="9144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参与人员姓名、学号、</a:t>
            </a:r>
            <a:r>
              <a:rPr lang="zh-CN" altLang="en-US" sz="20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每个成员贡献分</a:t>
            </a:r>
            <a:endParaRPr lang="en-US" altLang="zh-CN" sz="2000" b="1" kern="1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85470" lvl="1" indent="-228600" algn="just" defTabSz="9144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开发文档：统一为</a:t>
            </a:r>
            <a:r>
              <a:rPr lang="en-US" altLang="zh-CN" sz="20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.pdf</a:t>
            </a:r>
            <a:r>
              <a:rPr lang="zh-CN" altLang="en-US" sz="20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格式，命名为“软件工程</a:t>
            </a:r>
            <a:r>
              <a:rPr lang="en-US" altLang="zh-CN" sz="20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团队作业</a:t>
            </a:r>
            <a:r>
              <a:rPr lang="en-US" altLang="zh-CN" sz="20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团队名称</a:t>
            </a:r>
            <a:r>
              <a:rPr lang="en-US" altLang="zh-CN" sz="20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.pdf</a:t>
            </a:r>
            <a:r>
              <a:rPr lang="zh-CN" altLang="en-US" sz="20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en-US" altLang="zh-CN" sz="2000" b="1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85470" lvl="1" indent="-228600" algn="just" defTabSz="9144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源代码：包括完整代码、安装运行说明、视频录制，建议有足够的代码注释</a:t>
            </a:r>
            <a:endParaRPr lang="en-US" altLang="zh-CN" sz="2000" b="1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defTabSz="9144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b="1" u="sng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开发文档、整个作业压缩包</a:t>
            </a:r>
            <a:r>
              <a:rPr lang="zh-CN" altLang="en-US" sz="24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u="sng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组长</a:t>
            </a:r>
            <a:r>
              <a:rPr lang="zh-CN" altLang="en-US" sz="24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提交到助教</a:t>
            </a:r>
            <a:r>
              <a:rPr lang="zh-CN" altLang="en-US" sz="2400" b="1" u="sng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飞书</a:t>
            </a:r>
            <a:endParaRPr lang="en-US" altLang="zh-CN" sz="2400" b="1" u="sng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defTabSz="9144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b="1" u="sng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插件完整文件提交地址：截止日期前助教公布网盘链接</a:t>
            </a:r>
            <a:endParaRPr lang="zh-CN" altLang="zh-CN" sz="1600" b="1" u="sng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303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1224354"/>
            <a:ext cx="706127" cy="781804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857956"/>
            <a:ext cx="420307" cy="7558558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857956"/>
            <a:ext cx="10933503" cy="718925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1E01845-8E6E-2150-9999-A6E1BF77D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534705"/>
              </p:ext>
            </p:extLst>
          </p:nvPr>
        </p:nvGraphicFramePr>
        <p:xfrm>
          <a:off x="832919" y="1932009"/>
          <a:ext cx="10232579" cy="5628472"/>
        </p:xfrm>
        <a:graphic>
          <a:graphicData uri="http://schemas.openxmlformats.org/drawingml/2006/table">
            <a:tbl>
              <a:tblPr/>
              <a:tblGrid>
                <a:gridCol w="9021244">
                  <a:extLst>
                    <a:ext uri="{9D8B030D-6E8A-4147-A177-3AD203B41FA5}">
                      <a16:colId xmlns:a16="http://schemas.microsoft.com/office/drawing/2014/main" val="1601370559"/>
                    </a:ext>
                  </a:extLst>
                </a:gridCol>
                <a:gridCol w="1211335">
                  <a:extLst>
                    <a:ext uri="{9D8B030D-6E8A-4147-A177-3AD203B41FA5}">
                      <a16:colId xmlns:a16="http://schemas.microsoft.com/office/drawing/2014/main" val="3599678556"/>
                    </a:ext>
                  </a:extLst>
                </a:gridCol>
              </a:tblGrid>
              <a:tr h="5860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团队大作业评价标准：</a:t>
                      </a:r>
                      <a:endParaRPr lang="zh-CN" altLang="en-US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共</a:t>
                      </a:r>
                      <a:r>
                        <a:rPr lang="en-US" altLang="zh-CN" sz="2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  <a:r>
                        <a:rPr lang="zh-CN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分</a:t>
                      </a:r>
                      <a:endParaRPr lang="zh-CN" altLang="en-US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059296"/>
                  </a:ext>
                </a:extLst>
              </a:tr>
              <a:tr h="1056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</a:t>
                      </a:r>
                      <a:r>
                        <a:rPr lang="ja-JP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是否有运行的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演示</a:t>
                      </a:r>
                      <a:r>
                        <a:rPr lang="ja-JP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（视频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demo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，逻辑</a:t>
                      </a:r>
                      <a:r>
                        <a:rPr lang="ja-JP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实现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完整</a:t>
                      </a:r>
                      <a:r>
                        <a:rPr lang="ja-JP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</a:t>
                      </a:r>
                      <a:endParaRPr lang="ja-JP" altLang="en-US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endParaRPr lang="en-US" altLang="zh-C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720063"/>
                  </a:ext>
                </a:extLst>
              </a:tr>
              <a:tr h="5860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</a:t>
                      </a:r>
                      <a:r>
                        <a:rPr lang="ja-JP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文档是否都有（看提交文档）</a:t>
                      </a:r>
                      <a:endParaRPr lang="ja-JP" altLang="en-US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endParaRPr lang="en-US" altLang="zh-CN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431094"/>
                  </a:ext>
                </a:extLst>
              </a:tr>
              <a:tr h="5860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</a:t>
                      </a:r>
                      <a:r>
                        <a:rPr lang="ja-JP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功能完整度</a:t>
                      </a:r>
                      <a:endParaRPr lang="ja-JP" altLang="en-US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endParaRPr lang="en-US" altLang="zh-CN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72180"/>
                  </a:ext>
                </a:extLst>
              </a:tr>
              <a:tr h="5860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</a:t>
                      </a:r>
                      <a:r>
                        <a:rPr lang="ja-JP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用户友好程度</a:t>
                      </a:r>
                      <a:r>
                        <a:rPr lang="en-US" altLang="ja-JP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ja-JP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界面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UI</a:t>
                      </a:r>
                      <a:r>
                        <a:rPr lang="ja-JP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设计</a:t>
                      </a:r>
                      <a:endParaRPr lang="ja-JP" altLang="en-US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endParaRPr lang="en-US" altLang="zh-CN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387838"/>
                  </a:ext>
                </a:extLst>
              </a:tr>
              <a:tr h="1056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5.</a:t>
                      </a:r>
                      <a:r>
                        <a:rPr lang="ja-JP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是否有项目过程追踪和项目过程管理</a:t>
                      </a:r>
                      <a:endParaRPr lang="ja-JP" altLang="en-US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endParaRPr lang="en-US" altLang="zh-CN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19684"/>
                  </a:ext>
                </a:extLst>
              </a:tr>
              <a:tr h="5860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</a:t>
                      </a:r>
                      <a:r>
                        <a:rPr lang="ja-JP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功能测试</a:t>
                      </a:r>
                      <a:r>
                        <a:rPr lang="en-US" altLang="ja-JP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ja-JP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性能测试</a:t>
                      </a:r>
                      <a:r>
                        <a:rPr lang="en-US" altLang="ja-JP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ja-JP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安全性</a:t>
                      </a:r>
                      <a:r>
                        <a:rPr lang="en-US" altLang="ja-JP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endParaRPr lang="ja-JP" altLang="en-US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endParaRPr lang="en-US" altLang="zh-CN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003782"/>
                  </a:ext>
                </a:extLst>
              </a:tr>
              <a:tr h="586062">
                <a:tc>
                  <a:txBody>
                    <a:bodyPr/>
                    <a:lstStyle/>
                    <a:p>
                      <a:pPr marL="0" algn="l" defTabSz="1219170" rtl="0" eaLnBrk="1" fontAlgn="b" latinLnBrk="0" hangingPunct="1">
                        <a:buNone/>
                      </a:pPr>
                      <a:r>
                        <a:rPr lang="en-US" altLang="ja-JP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7. </a:t>
                      </a:r>
                      <a:r>
                        <a:rPr lang="zh-CN" alt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个人贡献</a:t>
                      </a:r>
                      <a:endParaRPr lang="ja-JP" altLang="en-US" sz="28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219170" rtl="0" eaLnBrk="1" fontAlgn="b" latinLnBrk="0" hangingPunct="1">
                        <a:buNone/>
                      </a:pPr>
                      <a:r>
                        <a:rPr lang="en-US" altLang="zh-CN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13530" marR="13530" marT="13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01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3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1224</TotalTime>
  <Words>1091</Words>
  <Application>Microsoft Office PowerPoint</Application>
  <PresentationFormat>自定义</PresentationFormat>
  <Paragraphs>95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PingFang SC</vt:lpstr>
      <vt:lpstr>等线</vt:lpstr>
      <vt:lpstr>黑体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Office 主题​​</vt:lpstr>
      <vt:lpstr>软件工程实验课  团队作业：智能城市生成系统</vt:lpstr>
      <vt:lpstr>题目：“智能城市生成系统"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软件工程第一次作业</dc:title>
  <dc:creator>徐 思涵</dc:creator>
  <cp:lastModifiedBy>lenovo</cp:lastModifiedBy>
  <cp:revision>114</cp:revision>
  <dcterms:created xsi:type="dcterms:W3CDTF">2021-02-20T12:48:00Z</dcterms:created>
  <dcterms:modified xsi:type="dcterms:W3CDTF">2026-03-26T04:25:49Z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AA14661DD4C047A1AAC338C26DAA6CF0</vt:lpwstr>
  </property>
</Properties>
</file>